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swald Bold" charset="1" panose="00000800000000000000"/>
      <p:regular r:id="rId15"/>
    </p:embeddedFont>
    <p:embeddedFont>
      <p:font typeface="Poppins" charset="1" panose="00000500000000000000"/>
      <p:regular r:id="rId16"/>
    </p:embeddedFont>
    <p:embeddedFont>
      <p:font typeface="Oswald" charset="1" panose="00000500000000000000"/>
      <p:regular r:id="rId17"/>
    </p:embeddedFont>
    <p:embeddedFont>
      <p:font typeface="Poppins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ln w="19050" cap="rnd">
              <a:solidFill>
                <a:srgbClr val="CD4146"/>
              </a:solidFill>
              <a:prstDash val="solid"/>
              <a:round/>
            </a:ln>
          </p:spPr>
        </p:sp>
        <p:sp>
          <p:nvSpPr>
            <p:cNvPr name="TextBox 5" id="5"/>
            <p:cNvSpPr txBox="true"/>
            <p:nvPr/>
          </p:nvSpPr>
          <p:spPr>
            <a:xfrm>
              <a:off x="0" y="-57150"/>
              <a:ext cx="4274726" cy="2224617"/>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9495491" y="1210179"/>
            <a:ext cx="7763809" cy="7650469"/>
          </a:xfrm>
          <a:custGeom>
            <a:avLst/>
            <a:gdLst/>
            <a:ahLst/>
            <a:cxnLst/>
            <a:rect r="r" b="b" t="t" l="l"/>
            <a:pathLst>
              <a:path h="7650469" w="7763809">
                <a:moveTo>
                  <a:pt x="0" y="0"/>
                </a:moveTo>
                <a:lnTo>
                  <a:pt x="7763809" y="0"/>
                </a:lnTo>
                <a:lnTo>
                  <a:pt x="7763809" y="7650469"/>
                </a:lnTo>
                <a:lnTo>
                  <a:pt x="0" y="7650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418346" y="2546981"/>
            <a:ext cx="4321642" cy="6189852"/>
          </a:xfrm>
          <a:custGeom>
            <a:avLst/>
            <a:gdLst/>
            <a:ahLst/>
            <a:cxnLst/>
            <a:rect r="r" b="b" t="t" l="l"/>
            <a:pathLst>
              <a:path h="6189852" w="4321642">
                <a:moveTo>
                  <a:pt x="0" y="0"/>
                </a:moveTo>
                <a:lnTo>
                  <a:pt x="4321642" y="0"/>
                </a:lnTo>
                <a:lnTo>
                  <a:pt x="4321642" y="6189852"/>
                </a:lnTo>
                <a:lnTo>
                  <a:pt x="0" y="61898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943279" y="3571555"/>
            <a:ext cx="9475067" cy="2070351"/>
          </a:xfrm>
          <a:prstGeom prst="rect">
            <a:avLst/>
          </a:prstGeom>
        </p:spPr>
        <p:txBody>
          <a:bodyPr anchor="t" rtlCol="false" tIns="0" lIns="0" bIns="0" rIns="0">
            <a:spAutoFit/>
          </a:bodyPr>
          <a:lstStyle/>
          <a:p>
            <a:pPr algn="l" marL="0" indent="0" lvl="0">
              <a:lnSpc>
                <a:spcPts val="8063"/>
              </a:lnSpc>
            </a:pPr>
            <a:r>
              <a:rPr lang="en-US" b="true" sz="7679">
                <a:solidFill>
                  <a:srgbClr val="CD4146"/>
                </a:solidFill>
                <a:latin typeface="Oswald Bold"/>
                <a:ea typeface="Oswald Bold"/>
                <a:cs typeface="Oswald Bold"/>
                <a:sym typeface="Oswald Bold"/>
              </a:rPr>
              <a:t>DA</a:t>
            </a:r>
            <a:r>
              <a:rPr lang="en-US" b="true" sz="7679" strike="noStrike" u="none">
                <a:solidFill>
                  <a:srgbClr val="CD4146"/>
                </a:solidFill>
                <a:latin typeface="Oswald Bold"/>
                <a:ea typeface="Oswald Bold"/>
                <a:cs typeface="Oswald Bold"/>
                <a:sym typeface="Oswald Bold"/>
              </a:rPr>
              <a:t>TA CLEANSING: JADWAL KERETA</a:t>
            </a:r>
          </a:p>
        </p:txBody>
      </p:sp>
      <p:sp>
        <p:nvSpPr>
          <p:cNvPr name="TextBox 9" id="9"/>
          <p:cNvSpPr txBox="true"/>
          <p:nvPr/>
        </p:nvSpPr>
        <p:spPr>
          <a:xfrm rot="0">
            <a:off x="1943279" y="6928438"/>
            <a:ext cx="9100628" cy="720954"/>
          </a:xfrm>
          <a:prstGeom prst="rect">
            <a:avLst/>
          </a:prstGeom>
        </p:spPr>
        <p:txBody>
          <a:bodyPr anchor="t" rtlCol="false" tIns="0" lIns="0" bIns="0" rIns="0">
            <a:spAutoFit/>
          </a:bodyPr>
          <a:lstStyle/>
          <a:p>
            <a:pPr algn="l">
              <a:lnSpc>
                <a:spcPts val="5653"/>
              </a:lnSpc>
            </a:pPr>
            <a:r>
              <a:rPr lang="en-US" sz="4038">
                <a:solidFill>
                  <a:srgbClr val="CD4146"/>
                </a:solidFill>
                <a:latin typeface="Poppins"/>
                <a:ea typeface="Poppins"/>
                <a:cs typeface="Poppins"/>
                <a:sym typeface="Poppins"/>
              </a:rPr>
              <a:t>SQL BigQuery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992343" y="3186922"/>
            <a:ext cx="6000216" cy="4712897"/>
          </a:xfrm>
          <a:custGeom>
            <a:avLst/>
            <a:gdLst/>
            <a:ahLst/>
            <a:cxnLst/>
            <a:rect r="r" b="b" t="t" l="l"/>
            <a:pathLst>
              <a:path h="4712897" w="6000216">
                <a:moveTo>
                  <a:pt x="0" y="0"/>
                </a:moveTo>
                <a:lnTo>
                  <a:pt x="6000216" y="0"/>
                </a:lnTo>
                <a:lnTo>
                  <a:pt x="6000216" y="4712897"/>
                </a:lnTo>
                <a:lnTo>
                  <a:pt x="0" y="47128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24944" y="2162896"/>
            <a:ext cx="9719189" cy="3380474"/>
            <a:chOff x="0" y="0"/>
            <a:chExt cx="2559786" cy="890331"/>
          </a:xfrm>
        </p:grpSpPr>
        <p:sp>
          <p:nvSpPr>
            <p:cNvPr name="Freeform 5" id="5"/>
            <p:cNvSpPr/>
            <p:nvPr/>
          </p:nvSpPr>
          <p:spPr>
            <a:xfrm flipH="false" flipV="false" rot="0">
              <a:off x="0" y="0"/>
              <a:ext cx="2559786" cy="890331"/>
            </a:xfrm>
            <a:custGeom>
              <a:avLst/>
              <a:gdLst/>
              <a:ahLst/>
              <a:cxnLst/>
              <a:rect r="r" b="b" t="t" l="l"/>
              <a:pathLst>
                <a:path h="890331" w="2559786">
                  <a:moveTo>
                    <a:pt x="27083" y="0"/>
                  </a:moveTo>
                  <a:lnTo>
                    <a:pt x="2532703" y="0"/>
                  </a:lnTo>
                  <a:cubicBezTo>
                    <a:pt x="2539886" y="0"/>
                    <a:pt x="2546775" y="2853"/>
                    <a:pt x="2551854" y="7932"/>
                  </a:cubicBezTo>
                  <a:cubicBezTo>
                    <a:pt x="2556933" y="13011"/>
                    <a:pt x="2559786" y="19900"/>
                    <a:pt x="2559786" y="27083"/>
                  </a:cubicBezTo>
                  <a:lnTo>
                    <a:pt x="2559786" y="863248"/>
                  </a:lnTo>
                  <a:cubicBezTo>
                    <a:pt x="2559786" y="870430"/>
                    <a:pt x="2556933" y="877319"/>
                    <a:pt x="2551854" y="882398"/>
                  </a:cubicBezTo>
                  <a:cubicBezTo>
                    <a:pt x="2546775" y="887477"/>
                    <a:pt x="2539886" y="890331"/>
                    <a:pt x="2532703" y="890331"/>
                  </a:cubicBezTo>
                  <a:lnTo>
                    <a:pt x="27083" y="890331"/>
                  </a:lnTo>
                  <a:cubicBezTo>
                    <a:pt x="12125" y="890331"/>
                    <a:pt x="0" y="878205"/>
                    <a:pt x="0" y="863248"/>
                  </a:cubicBezTo>
                  <a:lnTo>
                    <a:pt x="0" y="27083"/>
                  </a:lnTo>
                  <a:cubicBezTo>
                    <a:pt x="0" y="12125"/>
                    <a:pt x="12125" y="0"/>
                    <a:pt x="27083" y="0"/>
                  </a:cubicBezTo>
                  <a:close/>
                </a:path>
              </a:pathLst>
            </a:custGeom>
            <a:ln w="19050" cap="rnd">
              <a:solidFill>
                <a:srgbClr val="CD4146"/>
              </a:solidFill>
              <a:prstDash val="solid"/>
              <a:round/>
            </a:ln>
          </p:spPr>
        </p:sp>
        <p:sp>
          <p:nvSpPr>
            <p:cNvPr name="TextBox 6" id="6"/>
            <p:cNvSpPr txBox="true"/>
            <p:nvPr/>
          </p:nvSpPr>
          <p:spPr>
            <a:xfrm>
              <a:off x="0" y="-57150"/>
              <a:ext cx="2559786" cy="947481"/>
            </a:xfrm>
            <a:prstGeom prst="rect">
              <a:avLst/>
            </a:prstGeom>
          </p:spPr>
          <p:txBody>
            <a:bodyPr anchor="ctr" rtlCol="false" tIns="50800" lIns="50800" bIns="50800" rIns="50800"/>
            <a:lstStyle/>
            <a:p>
              <a:pPr algn="ctr">
                <a:lnSpc>
                  <a:spcPts val="2940"/>
                </a:lnSpc>
              </a:pPr>
            </a:p>
          </p:txBody>
        </p:sp>
      </p:grpSp>
      <p:sp>
        <p:nvSpPr>
          <p:cNvPr name="Freeform 7" id="7"/>
          <p:cNvSpPr/>
          <p:nvPr/>
        </p:nvSpPr>
        <p:spPr>
          <a:xfrm flipH="false" flipV="false" rot="0">
            <a:off x="1244418" y="3094339"/>
            <a:ext cx="1506552" cy="1517589"/>
          </a:xfrm>
          <a:custGeom>
            <a:avLst/>
            <a:gdLst/>
            <a:ahLst/>
            <a:cxnLst/>
            <a:rect r="r" b="b" t="t" l="l"/>
            <a:pathLst>
              <a:path h="1517589" w="1506552">
                <a:moveTo>
                  <a:pt x="0" y="0"/>
                </a:moveTo>
                <a:lnTo>
                  <a:pt x="1506551" y="0"/>
                </a:lnTo>
                <a:lnTo>
                  <a:pt x="1506551" y="1517589"/>
                </a:lnTo>
                <a:lnTo>
                  <a:pt x="0" y="15175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8" id="8"/>
          <p:cNvGrpSpPr/>
          <p:nvPr/>
        </p:nvGrpSpPr>
        <p:grpSpPr>
          <a:xfrm rot="0">
            <a:off x="924944" y="5810070"/>
            <a:ext cx="9719189" cy="2975808"/>
            <a:chOff x="0" y="0"/>
            <a:chExt cx="2559786" cy="783752"/>
          </a:xfrm>
        </p:grpSpPr>
        <p:sp>
          <p:nvSpPr>
            <p:cNvPr name="Freeform 9" id="9"/>
            <p:cNvSpPr/>
            <p:nvPr/>
          </p:nvSpPr>
          <p:spPr>
            <a:xfrm flipH="false" flipV="false" rot="0">
              <a:off x="0" y="0"/>
              <a:ext cx="2559786" cy="783752"/>
            </a:xfrm>
            <a:custGeom>
              <a:avLst/>
              <a:gdLst/>
              <a:ahLst/>
              <a:cxnLst/>
              <a:rect r="r" b="b" t="t" l="l"/>
              <a:pathLst>
                <a:path h="783752" w="2559786">
                  <a:moveTo>
                    <a:pt x="27083" y="0"/>
                  </a:moveTo>
                  <a:lnTo>
                    <a:pt x="2532703" y="0"/>
                  </a:lnTo>
                  <a:cubicBezTo>
                    <a:pt x="2539886" y="0"/>
                    <a:pt x="2546775" y="2853"/>
                    <a:pt x="2551854" y="7932"/>
                  </a:cubicBezTo>
                  <a:cubicBezTo>
                    <a:pt x="2556933" y="13011"/>
                    <a:pt x="2559786" y="19900"/>
                    <a:pt x="2559786" y="27083"/>
                  </a:cubicBezTo>
                  <a:lnTo>
                    <a:pt x="2559786" y="756669"/>
                  </a:lnTo>
                  <a:cubicBezTo>
                    <a:pt x="2559786" y="763852"/>
                    <a:pt x="2556933" y="770740"/>
                    <a:pt x="2551854" y="775819"/>
                  </a:cubicBezTo>
                  <a:cubicBezTo>
                    <a:pt x="2546775" y="780898"/>
                    <a:pt x="2539886" y="783752"/>
                    <a:pt x="2532703" y="783752"/>
                  </a:cubicBezTo>
                  <a:lnTo>
                    <a:pt x="27083" y="783752"/>
                  </a:lnTo>
                  <a:cubicBezTo>
                    <a:pt x="12125" y="783752"/>
                    <a:pt x="0" y="771626"/>
                    <a:pt x="0" y="756669"/>
                  </a:cubicBezTo>
                  <a:lnTo>
                    <a:pt x="0" y="27083"/>
                  </a:lnTo>
                  <a:cubicBezTo>
                    <a:pt x="0" y="12125"/>
                    <a:pt x="12125" y="0"/>
                    <a:pt x="27083" y="0"/>
                  </a:cubicBezTo>
                  <a:close/>
                </a:path>
              </a:pathLst>
            </a:custGeom>
            <a:ln w="19050" cap="rnd">
              <a:solidFill>
                <a:srgbClr val="CD4146"/>
              </a:solidFill>
              <a:prstDash val="solid"/>
              <a:round/>
            </a:ln>
          </p:spPr>
        </p:sp>
        <p:sp>
          <p:nvSpPr>
            <p:cNvPr name="TextBox 10" id="10"/>
            <p:cNvSpPr txBox="true"/>
            <p:nvPr/>
          </p:nvSpPr>
          <p:spPr>
            <a:xfrm>
              <a:off x="0" y="-57150"/>
              <a:ext cx="2559786" cy="840902"/>
            </a:xfrm>
            <a:prstGeom prst="rect">
              <a:avLst/>
            </a:prstGeom>
          </p:spPr>
          <p:txBody>
            <a:bodyPr anchor="ctr" rtlCol="false" tIns="50800" lIns="50800" bIns="50800" rIns="50800"/>
            <a:lstStyle/>
            <a:p>
              <a:pPr algn="ctr">
                <a:lnSpc>
                  <a:spcPts val="2940"/>
                </a:lnSpc>
              </a:pPr>
            </a:p>
          </p:txBody>
        </p:sp>
      </p:grpSp>
      <p:sp>
        <p:nvSpPr>
          <p:cNvPr name="Freeform 11" id="11"/>
          <p:cNvSpPr/>
          <p:nvPr/>
        </p:nvSpPr>
        <p:spPr>
          <a:xfrm flipH="false" flipV="false" rot="0">
            <a:off x="-2542620" y="8101649"/>
            <a:ext cx="4782302" cy="4712487"/>
          </a:xfrm>
          <a:custGeom>
            <a:avLst/>
            <a:gdLst/>
            <a:ahLst/>
            <a:cxnLst/>
            <a:rect r="r" b="b" t="t" l="l"/>
            <a:pathLst>
              <a:path h="4712487" w="4782302">
                <a:moveTo>
                  <a:pt x="0" y="0"/>
                </a:moveTo>
                <a:lnTo>
                  <a:pt x="4782302" y="0"/>
                </a:lnTo>
                <a:lnTo>
                  <a:pt x="4782302" y="4712487"/>
                </a:lnTo>
                <a:lnTo>
                  <a:pt x="0" y="47124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805571" y="6542422"/>
            <a:ext cx="1553471" cy="1511104"/>
          </a:xfrm>
          <a:custGeom>
            <a:avLst/>
            <a:gdLst/>
            <a:ahLst/>
            <a:cxnLst/>
            <a:rect r="r" b="b" t="t" l="l"/>
            <a:pathLst>
              <a:path h="1511104" w="1553471">
                <a:moveTo>
                  <a:pt x="0" y="0"/>
                </a:moveTo>
                <a:lnTo>
                  <a:pt x="1553471" y="0"/>
                </a:lnTo>
                <a:lnTo>
                  <a:pt x="1553471" y="1511104"/>
                </a:lnTo>
                <a:lnTo>
                  <a:pt x="0" y="15111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13" id="13"/>
          <p:cNvSpPr txBox="true"/>
          <p:nvPr/>
        </p:nvSpPr>
        <p:spPr>
          <a:xfrm rot="0">
            <a:off x="4295549" y="728806"/>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a:solidFill>
                  <a:srgbClr val="CD4146"/>
                </a:solidFill>
                <a:latin typeface="Oswald"/>
                <a:ea typeface="Oswald"/>
                <a:cs typeface="Oswald"/>
                <a:sym typeface="Oswald"/>
              </a:rPr>
              <a:t>Summary</a:t>
            </a:r>
          </a:p>
        </p:txBody>
      </p:sp>
      <p:sp>
        <p:nvSpPr>
          <p:cNvPr name="TextBox 14" id="14"/>
          <p:cNvSpPr txBox="true"/>
          <p:nvPr/>
        </p:nvSpPr>
        <p:spPr>
          <a:xfrm rot="0">
            <a:off x="3001037" y="2522491"/>
            <a:ext cx="6980395" cy="26041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Merancang pipeline data cleansing berbasis SQL untuk membersihkan 3.060 baris data jadwal kereta yang mengandung 4 format tanggal berbeda, 3 format jam berbeda, inkonsistensi penulisan (case &amp; whitespace), duplikasi, dan 35% data status yang hilang - menghasilkan dataset bersih 100% siap pakai untuk analisis lanjutan.</a:t>
            </a:r>
          </a:p>
        </p:txBody>
      </p:sp>
      <p:sp>
        <p:nvSpPr>
          <p:cNvPr name="Freeform 15" id="15"/>
          <p:cNvSpPr/>
          <p:nvPr/>
        </p:nvSpPr>
        <p:spPr>
          <a:xfrm flipH="false" flipV="false" rot="0">
            <a:off x="16652975" y="2105976"/>
            <a:ext cx="4782302" cy="4712487"/>
          </a:xfrm>
          <a:custGeom>
            <a:avLst/>
            <a:gdLst/>
            <a:ahLst/>
            <a:cxnLst/>
            <a:rect r="r" b="b" t="t" l="l"/>
            <a:pathLst>
              <a:path h="4712487" w="4782302">
                <a:moveTo>
                  <a:pt x="0" y="0"/>
                </a:moveTo>
                <a:lnTo>
                  <a:pt x="4782302" y="0"/>
                </a:lnTo>
                <a:lnTo>
                  <a:pt x="4782302" y="4712487"/>
                </a:lnTo>
                <a:lnTo>
                  <a:pt x="0" y="47124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1531458" y="6201192"/>
            <a:ext cx="6980395" cy="22326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CD4146"/>
                </a:solidFill>
                <a:latin typeface="Poppins"/>
                <a:ea typeface="Poppins"/>
                <a:cs typeface="Poppins"/>
                <a:sym typeface="Poppins"/>
              </a:rPr>
              <a:t>Baris Diproses: 3.060</a:t>
            </a:r>
          </a:p>
          <a:p>
            <a:pPr algn="l" marL="453390" indent="-226695" lvl="1">
              <a:lnSpc>
                <a:spcPts val="2940"/>
              </a:lnSpc>
              <a:buFont typeface="Arial"/>
              <a:buChar char="•"/>
            </a:pPr>
            <a:r>
              <a:rPr lang="en-US" sz="2100">
                <a:solidFill>
                  <a:srgbClr val="CD4146"/>
                </a:solidFill>
                <a:latin typeface="Poppins"/>
                <a:ea typeface="Poppins"/>
                <a:cs typeface="Poppins"/>
                <a:sym typeface="Poppins"/>
              </a:rPr>
              <a:t>Format Tanggal Distandarisasi: 4 format berbeda</a:t>
            </a:r>
          </a:p>
          <a:p>
            <a:pPr algn="l" marL="453390" indent="-226695" lvl="1">
              <a:lnSpc>
                <a:spcPts val="2940"/>
              </a:lnSpc>
              <a:buFont typeface="Arial"/>
              <a:buChar char="•"/>
            </a:pPr>
            <a:r>
              <a:rPr lang="en-US" sz="2100">
                <a:solidFill>
                  <a:srgbClr val="CD4146"/>
                </a:solidFill>
                <a:latin typeface="Poppins"/>
                <a:ea typeface="Poppins"/>
                <a:cs typeface="Poppins"/>
                <a:sym typeface="Poppins"/>
              </a:rPr>
              <a:t>Format Jam Distandarisasi: 3 format berbeda</a:t>
            </a:r>
          </a:p>
          <a:p>
            <a:pPr algn="l" marL="453390" indent="-226695" lvl="1">
              <a:lnSpc>
                <a:spcPts val="2940"/>
              </a:lnSpc>
              <a:buFont typeface="Arial"/>
              <a:buChar char="•"/>
            </a:pPr>
            <a:r>
              <a:rPr lang="en-US" sz="2100">
                <a:solidFill>
                  <a:srgbClr val="CD4146"/>
                </a:solidFill>
                <a:latin typeface="Poppins"/>
                <a:ea typeface="Poppins"/>
                <a:cs typeface="Poppins"/>
                <a:sym typeface="Poppins"/>
              </a:rPr>
              <a:t>Data Kritis Ditemukan: 35,3% kolom status kosong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943576" y="1574260"/>
            <a:ext cx="6391487" cy="1965614"/>
          </a:xfrm>
          <a:prstGeom prst="rect">
            <a:avLst/>
          </a:prstGeom>
        </p:spPr>
        <p:txBody>
          <a:bodyPr anchor="t" rtlCol="false" tIns="0" lIns="0" bIns="0" rIns="0">
            <a:spAutoFit/>
          </a:bodyPr>
          <a:lstStyle/>
          <a:p>
            <a:pPr algn="l" marL="0" indent="0" lvl="0">
              <a:lnSpc>
                <a:spcPts val="7704"/>
              </a:lnSpc>
            </a:pPr>
            <a:r>
              <a:rPr lang="en-US" sz="6818">
                <a:solidFill>
                  <a:srgbClr val="CD4146"/>
                </a:solidFill>
                <a:latin typeface="Oswald"/>
                <a:ea typeface="Oswald"/>
                <a:cs typeface="Oswald"/>
                <a:sym typeface="Oswald"/>
              </a:rPr>
              <a:t>Background &amp; Objective</a:t>
            </a:r>
          </a:p>
        </p:txBody>
      </p:sp>
      <p:grpSp>
        <p:nvGrpSpPr>
          <p:cNvPr name="Group 4" id="4"/>
          <p:cNvGrpSpPr/>
          <p:nvPr/>
        </p:nvGrpSpPr>
        <p:grpSpPr>
          <a:xfrm rot="0">
            <a:off x="8624456" y="1726207"/>
            <a:ext cx="8634844" cy="6297948"/>
            <a:chOff x="0" y="0"/>
            <a:chExt cx="2274198" cy="1658719"/>
          </a:xfrm>
        </p:grpSpPr>
        <p:sp>
          <p:nvSpPr>
            <p:cNvPr name="Freeform 5" id="5"/>
            <p:cNvSpPr/>
            <p:nvPr/>
          </p:nvSpPr>
          <p:spPr>
            <a:xfrm flipH="false" flipV="false" rot="0">
              <a:off x="0" y="0"/>
              <a:ext cx="2274198" cy="1658719"/>
            </a:xfrm>
            <a:custGeom>
              <a:avLst/>
              <a:gdLst/>
              <a:ahLst/>
              <a:cxnLst/>
              <a:rect r="r" b="b" t="t" l="l"/>
              <a:pathLst>
                <a:path h="1658719" w="2274198">
                  <a:moveTo>
                    <a:pt x="30484" y="0"/>
                  </a:moveTo>
                  <a:lnTo>
                    <a:pt x="2243714" y="0"/>
                  </a:lnTo>
                  <a:cubicBezTo>
                    <a:pt x="2251799" y="0"/>
                    <a:pt x="2259552" y="3212"/>
                    <a:pt x="2265269" y="8929"/>
                  </a:cubicBezTo>
                  <a:cubicBezTo>
                    <a:pt x="2270986" y="14645"/>
                    <a:pt x="2274198" y="22399"/>
                    <a:pt x="2274198" y="30484"/>
                  </a:cubicBezTo>
                  <a:lnTo>
                    <a:pt x="2274198" y="1628235"/>
                  </a:lnTo>
                  <a:cubicBezTo>
                    <a:pt x="2274198" y="1636320"/>
                    <a:pt x="2270986" y="1644073"/>
                    <a:pt x="2265269" y="1649790"/>
                  </a:cubicBezTo>
                  <a:cubicBezTo>
                    <a:pt x="2259552" y="1655507"/>
                    <a:pt x="2251799" y="1658719"/>
                    <a:pt x="2243714" y="1658719"/>
                  </a:cubicBezTo>
                  <a:lnTo>
                    <a:pt x="30484" y="1658719"/>
                  </a:lnTo>
                  <a:cubicBezTo>
                    <a:pt x="22399" y="1658719"/>
                    <a:pt x="14645" y="1655507"/>
                    <a:pt x="8929" y="1649790"/>
                  </a:cubicBezTo>
                  <a:cubicBezTo>
                    <a:pt x="3212" y="1644073"/>
                    <a:pt x="0" y="1636320"/>
                    <a:pt x="0" y="1628235"/>
                  </a:cubicBezTo>
                  <a:lnTo>
                    <a:pt x="0" y="30484"/>
                  </a:lnTo>
                  <a:cubicBezTo>
                    <a:pt x="0" y="22399"/>
                    <a:pt x="3212" y="14645"/>
                    <a:pt x="8929" y="8929"/>
                  </a:cubicBezTo>
                  <a:cubicBezTo>
                    <a:pt x="14645" y="3212"/>
                    <a:pt x="22399" y="0"/>
                    <a:pt x="30484" y="0"/>
                  </a:cubicBezTo>
                  <a:close/>
                </a:path>
              </a:pathLst>
            </a:custGeom>
            <a:ln w="19050" cap="rnd">
              <a:solidFill>
                <a:srgbClr val="CD4146"/>
              </a:solidFill>
              <a:prstDash val="solid"/>
              <a:round/>
            </a:ln>
          </p:spPr>
        </p:sp>
        <p:sp>
          <p:nvSpPr>
            <p:cNvPr name="TextBox 6" id="6"/>
            <p:cNvSpPr txBox="true"/>
            <p:nvPr/>
          </p:nvSpPr>
          <p:spPr>
            <a:xfrm>
              <a:off x="0" y="-57150"/>
              <a:ext cx="2274198" cy="171586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9144000" y="2416395"/>
            <a:ext cx="7723837" cy="2258840"/>
          </a:xfrm>
          <a:prstGeom prst="rect">
            <a:avLst/>
          </a:prstGeom>
        </p:spPr>
        <p:txBody>
          <a:bodyPr anchor="t" rtlCol="false" tIns="0" lIns="0" bIns="0" rIns="0">
            <a:spAutoFit/>
          </a:bodyPr>
          <a:lstStyle/>
          <a:p>
            <a:pPr algn="just">
              <a:lnSpc>
                <a:spcPts val="3557"/>
              </a:lnSpc>
            </a:pPr>
            <a:r>
              <a:rPr lang="en-US" sz="2540">
                <a:solidFill>
                  <a:srgbClr val="CD4146"/>
                </a:solidFill>
                <a:latin typeface="Poppins"/>
                <a:ea typeface="Poppins"/>
                <a:cs typeface="Poppins"/>
                <a:sym typeface="Poppins"/>
              </a:rPr>
              <a:t>Dataset jadwal kereta ini merupakan data hasil generate AI yang sengaja dibuat kotor untuk mensimulasikan kondisi data mentah di dunia nyata, kombinasi dari berbagai sumber input dengan standar penulisan yang tidak seragam.</a:t>
            </a:r>
          </a:p>
        </p:txBody>
      </p:sp>
      <p:sp>
        <p:nvSpPr>
          <p:cNvPr name="Freeform 8" id="8"/>
          <p:cNvSpPr/>
          <p:nvPr/>
        </p:nvSpPr>
        <p:spPr>
          <a:xfrm flipH="false" flipV="false" rot="0">
            <a:off x="1943576" y="4462755"/>
            <a:ext cx="6204824" cy="5302304"/>
          </a:xfrm>
          <a:custGeom>
            <a:avLst/>
            <a:gdLst/>
            <a:ahLst/>
            <a:cxnLst/>
            <a:rect r="r" b="b" t="t" l="l"/>
            <a:pathLst>
              <a:path h="5302304" w="6204824">
                <a:moveTo>
                  <a:pt x="0" y="0"/>
                </a:moveTo>
                <a:lnTo>
                  <a:pt x="6204824" y="0"/>
                </a:lnTo>
                <a:lnTo>
                  <a:pt x="6204824" y="5302304"/>
                </a:lnTo>
                <a:lnTo>
                  <a:pt x="0" y="5302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771372" y="8824254"/>
            <a:ext cx="6081308" cy="5992529"/>
          </a:xfrm>
          <a:custGeom>
            <a:avLst/>
            <a:gdLst/>
            <a:ahLst/>
            <a:cxnLst/>
            <a:rect r="r" b="b" t="t" l="l"/>
            <a:pathLst>
              <a:path h="5992529" w="6081308">
                <a:moveTo>
                  <a:pt x="0" y="0"/>
                </a:moveTo>
                <a:lnTo>
                  <a:pt x="6081307" y="0"/>
                </a:lnTo>
                <a:lnTo>
                  <a:pt x="6081307" y="5992529"/>
                </a:lnTo>
                <a:lnTo>
                  <a:pt x="0" y="59925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011954" y="-4456369"/>
            <a:ext cx="6081308" cy="5992529"/>
          </a:xfrm>
          <a:custGeom>
            <a:avLst/>
            <a:gdLst/>
            <a:ahLst/>
            <a:cxnLst/>
            <a:rect r="r" b="b" t="t" l="l"/>
            <a:pathLst>
              <a:path h="5992529" w="6081308">
                <a:moveTo>
                  <a:pt x="0" y="0"/>
                </a:moveTo>
                <a:lnTo>
                  <a:pt x="6081308" y="0"/>
                </a:lnTo>
                <a:lnTo>
                  <a:pt x="6081308" y="5992529"/>
                </a:lnTo>
                <a:lnTo>
                  <a:pt x="0" y="59925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9079959" y="5067300"/>
            <a:ext cx="7723837" cy="2258840"/>
          </a:xfrm>
          <a:prstGeom prst="rect">
            <a:avLst/>
          </a:prstGeom>
        </p:spPr>
        <p:txBody>
          <a:bodyPr anchor="t" rtlCol="false" tIns="0" lIns="0" bIns="0" rIns="0">
            <a:spAutoFit/>
          </a:bodyPr>
          <a:lstStyle/>
          <a:p>
            <a:pPr algn="just">
              <a:lnSpc>
                <a:spcPts val="3557"/>
              </a:lnSpc>
            </a:pPr>
            <a:r>
              <a:rPr lang="en-US" sz="2540">
                <a:solidFill>
                  <a:srgbClr val="CD4146"/>
                </a:solidFill>
                <a:latin typeface="Poppins"/>
                <a:ea typeface="Poppins"/>
                <a:cs typeface="Poppins"/>
                <a:sym typeface="Poppins"/>
              </a:rPr>
              <a:t>Tujuan: Membangun satu SQL pipeline yang mampu mendeteksi seluruh pola di atas secara otomatis dan menghasilkan dataset final yang konsisten, bertipe data benar, dan bebas duplikasi - tanpa proses manual.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467170" y="-3194657"/>
            <a:ext cx="6637037" cy="6540146"/>
          </a:xfrm>
          <a:custGeom>
            <a:avLst/>
            <a:gdLst/>
            <a:ahLst/>
            <a:cxnLst/>
            <a:rect r="r" b="b" t="t" l="l"/>
            <a:pathLst>
              <a:path h="6540146" w="6637037">
                <a:moveTo>
                  <a:pt x="0" y="0"/>
                </a:moveTo>
                <a:lnTo>
                  <a:pt x="6637037" y="0"/>
                </a:lnTo>
                <a:lnTo>
                  <a:pt x="6637037" y="6540146"/>
                </a:lnTo>
                <a:lnTo>
                  <a:pt x="0" y="6540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88608" y="6714885"/>
            <a:ext cx="6637037" cy="6540146"/>
          </a:xfrm>
          <a:custGeom>
            <a:avLst/>
            <a:gdLst/>
            <a:ahLst/>
            <a:cxnLst/>
            <a:rect r="r" b="b" t="t" l="l"/>
            <a:pathLst>
              <a:path h="6540146" w="6637037">
                <a:moveTo>
                  <a:pt x="0" y="0"/>
                </a:moveTo>
                <a:lnTo>
                  <a:pt x="6637037" y="0"/>
                </a:lnTo>
                <a:lnTo>
                  <a:pt x="6637037" y="6540146"/>
                </a:lnTo>
                <a:lnTo>
                  <a:pt x="0" y="6540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95549" y="1093979"/>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strike="noStrike" u="none">
                <a:solidFill>
                  <a:srgbClr val="CD4146"/>
                </a:solidFill>
                <a:latin typeface="Oswald"/>
                <a:ea typeface="Oswald"/>
                <a:cs typeface="Oswald"/>
                <a:sym typeface="Oswald"/>
              </a:rPr>
              <a:t>SQL Pipeline</a:t>
            </a:r>
          </a:p>
        </p:txBody>
      </p:sp>
      <p:sp>
        <p:nvSpPr>
          <p:cNvPr name="TextBox 5" id="5"/>
          <p:cNvSpPr txBox="true"/>
          <p:nvPr/>
        </p:nvSpPr>
        <p:spPr>
          <a:xfrm rot="0">
            <a:off x="3981520" y="3516939"/>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new_</a:t>
            </a:r>
            <a:r>
              <a:rPr lang="en-US" b="true" sz="2787" strike="noStrike" u="none">
                <a:solidFill>
                  <a:srgbClr val="CD4146"/>
                </a:solidFill>
                <a:latin typeface="Poppins Bold"/>
                <a:ea typeface="Poppins Bold"/>
                <a:cs typeface="Poppins Bold"/>
                <a:sym typeface="Poppins Bold"/>
              </a:rPr>
              <a:t>table</a:t>
            </a:r>
          </a:p>
        </p:txBody>
      </p:sp>
      <p:grpSp>
        <p:nvGrpSpPr>
          <p:cNvPr name="Group 6" id="6"/>
          <p:cNvGrpSpPr/>
          <p:nvPr/>
        </p:nvGrpSpPr>
        <p:grpSpPr>
          <a:xfrm rot="0">
            <a:off x="3029535" y="3602664"/>
            <a:ext cx="699655" cy="6996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2998663" y="3654524"/>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1</a:t>
            </a:r>
          </a:p>
        </p:txBody>
      </p:sp>
      <p:sp>
        <p:nvSpPr>
          <p:cNvPr name="TextBox 10" id="10"/>
          <p:cNvSpPr txBox="true"/>
          <p:nvPr/>
        </p:nvSpPr>
        <p:spPr>
          <a:xfrm rot="0">
            <a:off x="3388790" y="2466443"/>
            <a:ext cx="12327625"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Query dirancang dalam 3 tahap CTE  berurutan agar setiap tahap punya tanggung jawab yang jelas dan mudah ditelusuri</a:t>
            </a:r>
          </a:p>
        </p:txBody>
      </p:sp>
      <p:sp>
        <p:nvSpPr>
          <p:cNvPr name="TextBox 11" id="11"/>
          <p:cNvSpPr txBox="true"/>
          <p:nvPr/>
        </p:nvSpPr>
        <p:spPr>
          <a:xfrm rot="0">
            <a:off x="3778917" y="4098059"/>
            <a:ext cx="12327625" cy="48228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CD4146"/>
                </a:solidFill>
                <a:latin typeface="Poppins"/>
                <a:ea typeface="Poppins"/>
                <a:cs typeface="Poppins"/>
                <a:sym typeface="Poppins"/>
              </a:rPr>
              <a:t>TRIM + UPPER/INITCAP untuk merapikan whitespace &amp; konsistensi penulisan huruf pada seluruh kolom teks.</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REGEXP_CONTAINS untuk mendeteksi pola tanggal/jam secara otomatis, lalu PARSE_DATE / PARSE_TIME sesuai pola yang cocok (4 pola tanggal, 3 pola jam).</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Placeholder semu ("nan", "null", "n/a", "none", "-") pada kolom kelas &amp; status diubah menjadi NULL asli agar tidak salah dihitung sebagai data valid.</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REGEXP_REPLACE untuk membersihkan simbol "Rp" dan titik dari kolom harga.</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DISTINCT diterapkan di level ini untuk sekaligus menangani duplikasi.</a:t>
            </a:r>
          </a:p>
          <a:p>
            <a:pPr algn="just">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467170" y="-3194657"/>
            <a:ext cx="6637037" cy="6540146"/>
          </a:xfrm>
          <a:custGeom>
            <a:avLst/>
            <a:gdLst/>
            <a:ahLst/>
            <a:cxnLst/>
            <a:rect r="r" b="b" t="t" l="l"/>
            <a:pathLst>
              <a:path h="6540146" w="6637037">
                <a:moveTo>
                  <a:pt x="0" y="0"/>
                </a:moveTo>
                <a:lnTo>
                  <a:pt x="6637037" y="0"/>
                </a:lnTo>
                <a:lnTo>
                  <a:pt x="6637037" y="6540146"/>
                </a:lnTo>
                <a:lnTo>
                  <a:pt x="0" y="6540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88608" y="6714885"/>
            <a:ext cx="6637037" cy="6540146"/>
          </a:xfrm>
          <a:custGeom>
            <a:avLst/>
            <a:gdLst/>
            <a:ahLst/>
            <a:cxnLst/>
            <a:rect r="r" b="b" t="t" l="l"/>
            <a:pathLst>
              <a:path h="6540146" w="6637037">
                <a:moveTo>
                  <a:pt x="0" y="0"/>
                </a:moveTo>
                <a:lnTo>
                  <a:pt x="6637037" y="0"/>
                </a:lnTo>
                <a:lnTo>
                  <a:pt x="6637037" y="6540146"/>
                </a:lnTo>
                <a:lnTo>
                  <a:pt x="0" y="6540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95549" y="1093979"/>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strike="noStrike" u="none">
                <a:solidFill>
                  <a:srgbClr val="CD4146"/>
                </a:solidFill>
                <a:latin typeface="Oswald"/>
                <a:ea typeface="Oswald"/>
                <a:cs typeface="Oswald"/>
                <a:sym typeface="Oswald"/>
              </a:rPr>
              <a:t>SQL Pipeline</a:t>
            </a:r>
          </a:p>
        </p:txBody>
      </p:sp>
      <p:sp>
        <p:nvSpPr>
          <p:cNvPr name="TextBox 5" id="5"/>
          <p:cNvSpPr txBox="true"/>
          <p:nvPr/>
        </p:nvSpPr>
        <p:spPr>
          <a:xfrm rot="0">
            <a:off x="3981520" y="3516939"/>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new_</a:t>
            </a:r>
            <a:r>
              <a:rPr lang="en-US" b="true" sz="2787" strike="noStrike" u="none">
                <a:solidFill>
                  <a:srgbClr val="CD4146"/>
                </a:solidFill>
                <a:latin typeface="Poppins Bold"/>
                <a:ea typeface="Poppins Bold"/>
                <a:cs typeface="Poppins Bold"/>
                <a:sym typeface="Poppins Bold"/>
              </a:rPr>
              <a:t>tipe_data</a:t>
            </a:r>
          </a:p>
        </p:txBody>
      </p:sp>
      <p:grpSp>
        <p:nvGrpSpPr>
          <p:cNvPr name="Group 6" id="6"/>
          <p:cNvGrpSpPr/>
          <p:nvPr/>
        </p:nvGrpSpPr>
        <p:grpSpPr>
          <a:xfrm rot="0">
            <a:off x="3029535" y="3602664"/>
            <a:ext cx="699655" cy="6996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2998663" y="3654524"/>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2</a:t>
            </a:r>
          </a:p>
        </p:txBody>
      </p:sp>
      <p:sp>
        <p:nvSpPr>
          <p:cNvPr name="TextBox 10" id="10"/>
          <p:cNvSpPr txBox="true"/>
          <p:nvPr/>
        </p:nvSpPr>
        <p:spPr>
          <a:xfrm rot="0">
            <a:off x="3388790" y="2466443"/>
            <a:ext cx="12327625"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Query dirancang dalam 3 tahap CTE  berurutan agar setiap tahap punya tanggung jawab yang jelas dan mudah ditelusuri</a:t>
            </a:r>
          </a:p>
        </p:txBody>
      </p:sp>
      <p:sp>
        <p:nvSpPr>
          <p:cNvPr name="TextBox 11" id="11"/>
          <p:cNvSpPr txBox="true"/>
          <p:nvPr/>
        </p:nvSpPr>
        <p:spPr>
          <a:xfrm rot="0">
            <a:off x="3778917" y="4098059"/>
            <a:ext cx="12327625" cy="17557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CD4146"/>
                </a:solidFill>
                <a:latin typeface="Poppins"/>
                <a:ea typeface="Poppins"/>
                <a:cs typeface="Poppins"/>
                <a:sym typeface="Poppins"/>
              </a:rPr>
              <a:t>Konversi eksplisit ke tipe data yang benar: DATE, TIME, INT64 — memastikan data siap untuk operasi agregasi/kalkulasi di tahap analisis selanjutnya.</a:t>
            </a:r>
          </a:p>
          <a:p>
            <a:pPr algn="just">
              <a:lnSpc>
                <a:spcPts val="3499"/>
              </a:lnSpc>
            </a:pPr>
          </a:p>
        </p:txBody>
      </p:sp>
      <p:sp>
        <p:nvSpPr>
          <p:cNvPr name="TextBox 12" id="12"/>
          <p:cNvSpPr txBox="true"/>
          <p:nvPr/>
        </p:nvSpPr>
        <p:spPr>
          <a:xfrm rot="0">
            <a:off x="4012392" y="5559619"/>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cl</a:t>
            </a:r>
            <a:r>
              <a:rPr lang="en-US" b="true" sz="2787" strike="noStrike" u="none">
                <a:solidFill>
                  <a:srgbClr val="CD4146"/>
                </a:solidFill>
                <a:latin typeface="Poppins Bold"/>
                <a:ea typeface="Poppins Bold"/>
                <a:cs typeface="Poppins Bold"/>
                <a:sym typeface="Poppins Bold"/>
              </a:rPr>
              <a:t>ean_table</a:t>
            </a:r>
          </a:p>
        </p:txBody>
      </p:sp>
      <p:grpSp>
        <p:nvGrpSpPr>
          <p:cNvPr name="Group 13" id="13"/>
          <p:cNvGrpSpPr/>
          <p:nvPr/>
        </p:nvGrpSpPr>
        <p:grpSpPr>
          <a:xfrm rot="0">
            <a:off x="3060407" y="5645344"/>
            <a:ext cx="699655" cy="69965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5" id="15"/>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3029535" y="5697204"/>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3</a:t>
            </a:r>
          </a:p>
        </p:txBody>
      </p:sp>
      <p:sp>
        <p:nvSpPr>
          <p:cNvPr name="TextBox 17" id="17"/>
          <p:cNvSpPr txBox="true"/>
          <p:nvPr/>
        </p:nvSpPr>
        <p:spPr>
          <a:xfrm rot="0">
            <a:off x="3809789" y="6140739"/>
            <a:ext cx="12327625" cy="30702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CD4146"/>
                </a:solidFill>
                <a:latin typeface="Poppins"/>
                <a:ea typeface="Poppins"/>
                <a:cs typeface="Poppins"/>
                <a:sym typeface="Poppins"/>
              </a:rPr>
              <a:t>COALESCE diterapkan pada kolom kategorikal (nama_kereta, nomor_kereta, stasiun_asal, stasiun_tujuan, kelas) → nilai kosong diisi 'UNKNOWN'.</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Kolom status yang kosong diisi 'Waiting' - sebuah keputusan bisnis eksplisit: mengasumsikan status yang belum tercatat berarti jadwal belum terverifikasi, bukan data error yang harus dibuang.</a:t>
            </a:r>
          </a:p>
          <a:p>
            <a:pPr algn="just">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551487" y="7961893"/>
            <a:ext cx="5415627" cy="5336567"/>
          </a:xfrm>
          <a:custGeom>
            <a:avLst/>
            <a:gdLst/>
            <a:ahLst/>
            <a:cxnLst/>
            <a:rect r="r" b="b" t="t" l="l"/>
            <a:pathLst>
              <a:path h="5336567" w="5415627">
                <a:moveTo>
                  <a:pt x="0" y="0"/>
                </a:moveTo>
                <a:lnTo>
                  <a:pt x="5415626" y="0"/>
                </a:lnTo>
                <a:lnTo>
                  <a:pt x="5415626" y="5336567"/>
                </a:lnTo>
                <a:lnTo>
                  <a:pt x="0" y="53365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39035" y="-2668283"/>
            <a:ext cx="5415627" cy="5336567"/>
          </a:xfrm>
          <a:custGeom>
            <a:avLst/>
            <a:gdLst/>
            <a:ahLst/>
            <a:cxnLst/>
            <a:rect r="r" b="b" t="t" l="l"/>
            <a:pathLst>
              <a:path h="5336567" w="5415627">
                <a:moveTo>
                  <a:pt x="0" y="0"/>
                </a:moveTo>
                <a:lnTo>
                  <a:pt x="5415626" y="0"/>
                </a:lnTo>
                <a:lnTo>
                  <a:pt x="5415626" y="5336566"/>
                </a:lnTo>
                <a:lnTo>
                  <a:pt x="0" y="5336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5" id="5"/>
          <p:cNvGraphicFramePr>
            <a:graphicFrameLocks noGrp="true"/>
          </p:cNvGraphicFramePr>
          <p:nvPr/>
        </p:nvGraphicFramePr>
        <p:xfrm>
          <a:off x="2842952" y="1688564"/>
          <a:ext cx="12602096" cy="8153400"/>
        </p:xfrm>
        <a:graphic>
          <a:graphicData uri="http://schemas.openxmlformats.org/drawingml/2006/table">
            <a:tbl>
              <a:tblPr/>
              <a:tblGrid>
                <a:gridCol w="4637221"/>
                <a:gridCol w="7964875"/>
              </a:tblGrid>
              <a:tr h="1416930">
                <a:tc>
                  <a:txBody>
                    <a:bodyPr anchor="t" rtlCol="false"/>
                    <a:lstStyle/>
                    <a:p>
                      <a:pPr algn="just">
                        <a:lnSpc>
                          <a:spcPts val="3359"/>
                        </a:lnSpc>
                        <a:defRPr/>
                      </a:pPr>
                      <a:r>
                        <a:rPr lang="en-US" sz="2399">
                          <a:solidFill>
                            <a:srgbClr val="CD4146"/>
                          </a:solidFill>
                          <a:latin typeface="Oswald"/>
                          <a:ea typeface="Oswald"/>
                          <a:cs typeface="Oswald"/>
                          <a:sym typeface="Oswald"/>
                        </a:rPr>
                        <a:t>Inkonsistensi Format Tanggal</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4 format berbeda: DD/MM/YYYY, DD Mon YYYY, DD-MM-YYYY, YYYY-MM-DD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34846">
                <a:tc>
                  <a:txBody>
                    <a:bodyPr anchor="t" rtlCol="false"/>
                    <a:lstStyle/>
                    <a:p>
                      <a:pPr algn="just">
                        <a:lnSpc>
                          <a:spcPts val="3359"/>
                        </a:lnSpc>
                        <a:defRPr/>
                      </a:pPr>
                      <a:r>
                        <a:rPr lang="en-US" sz="2399">
                          <a:solidFill>
                            <a:srgbClr val="CD4146"/>
                          </a:solidFill>
                          <a:latin typeface="Oswald"/>
                          <a:ea typeface="Oswald"/>
                          <a:cs typeface="Oswald"/>
                          <a:sym typeface="Oswald"/>
                        </a:rPr>
                        <a:t>Inkonsistensi Format Jam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3 format berbeda pada jam_berangkat &amp; jam_tiba: HH:MM:SS, HH:MM, HH.MM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25888">
                <a:tc>
                  <a:txBody>
                    <a:bodyPr anchor="t" rtlCol="false"/>
                    <a:lstStyle/>
                    <a:p>
                      <a:pPr algn="just">
                        <a:lnSpc>
                          <a:spcPts val="3359"/>
                        </a:lnSpc>
                        <a:defRPr/>
                      </a:pPr>
                      <a:r>
                        <a:rPr lang="en-US" sz="2399">
                          <a:solidFill>
                            <a:srgbClr val="CD4146"/>
                          </a:solidFill>
                          <a:latin typeface="Oswald"/>
                          <a:ea typeface="Oswald"/>
                          <a:cs typeface="Oswald"/>
                          <a:sym typeface="Oswald"/>
                        </a:rPr>
                        <a:t>Inkonsistensi Case &amp; Whitespace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Kolom kelas, status, nama_kereta, id_jadwal memiliki variasi huruf besar/kecil dan spasi berlebih</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25888">
                <a:tc>
                  <a:txBody>
                    <a:bodyPr anchor="t" rtlCol="false"/>
                    <a:lstStyle/>
                    <a:p>
                      <a:pPr algn="just">
                        <a:lnSpc>
                          <a:spcPts val="3359"/>
                        </a:lnSpc>
                        <a:defRPr/>
                      </a:pPr>
                      <a:r>
                        <a:rPr lang="en-US" sz="2399">
                          <a:solidFill>
                            <a:srgbClr val="CD4146"/>
                          </a:solidFill>
                          <a:latin typeface="Oswald"/>
                          <a:ea typeface="Oswald"/>
                          <a:cs typeface="Oswald"/>
                          <a:sym typeface="Oswald"/>
                        </a:rPr>
                        <a:t>Missing Values Tersembunyi</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laceholder seperti "-", "none", "N/A", "nan" tercampur dengan NULL asli</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25888">
                <a:tc>
                  <a:txBody>
                    <a:bodyPr anchor="t" rtlCol="false"/>
                    <a:lstStyle/>
                    <a:p>
                      <a:pPr algn="just">
                        <a:lnSpc>
                          <a:spcPts val="3359"/>
                        </a:lnSpc>
                        <a:defRPr/>
                      </a:pPr>
                      <a:r>
                        <a:rPr lang="en-US" sz="2399">
                          <a:solidFill>
                            <a:srgbClr val="CD4146"/>
                          </a:solidFill>
                          <a:latin typeface="Oswald"/>
                          <a:ea typeface="Oswald"/>
                          <a:cs typeface="Oswald"/>
                          <a:sym typeface="Oswald"/>
                        </a:rPr>
                        <a:t>Format Harga Tidak Seragam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Sebagian data harga memakai prefix "Rp" dan separator titik, sebagian lagi angka polos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3960">
                <a:tc>
                  <a:txBody>
                    <a:bodyPr anchor="t" rtlCol="false"/>
                    <a:lstStyle/>
                    <a:p>
                      <a:pPr algn="just">
                        <a:lnSpc>
                          <a:spcPts val="3359"/>
                        </a:lnSpc>
                        <a:defRPr/>
                      </a:pPr>
                      <a:r>
                        <a:rPr lang="en-US" sz="2399">
                          <a:solidFill>
                            <a:srgbClr val="CD4146"/>
                          </a:solidFill>
                          <a:latin typeface="Oswald"/>
                          <a:ea typeface="Oswald"/>
                          <a:cs typeface="Oswald"/>
                          <a:sym typeface="Oswald"/>
                        </a:rPr>
                        <a:t>Duplikasi Data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Terdapat 60 baris data terduplikasi</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6" id="6"/>
          <p:cNvSpPr txBox="true"/>
          <p:nvPr/>
        </p:nvSpPr>
        <p:spPr>
          <a:xfrm rot="0">
            <a:off x="4295549" y="383241"/>
            <a:ext cx="9696902"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Problem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551487" y="7961893"/>
            <a:ext cx="5415627" cy="5336567"/>
          </a:xfrm>
          <a:custGeom>
            <a:avLst/>
            <a:gdLst/>
            <a:ahLst/>
            <a:cxnLst/>
            <a:rect r="r" b="b" t="t" l="l"/>
            <a:pathLst>
              <a:path h="5336567" w="5415627">
                <a:moveTo>
                  <a:pt x="0" y="0"/>
                </a:moveTo>
                <a:lnTo>
                  <a:pt x="5415626" y="0"/>
                </a:lnTo>
                <a:lnTo>
                  <a:pt x="5415626" y="5336567"/>
                </a:lnTo>
                <a:lnTo>
                  <a:pt x="0" y="53365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39035" y="-2668283"/>
            <a:ext cx="5415627" cy="5336567"/>
          </a:xfrm>
          <a:custGeom>
            <a:avLst/>
            <a:gdLst/>
            <a:ahLst/>
            <a:cxnLst/>
            <a:rect r="r" b="b" t="t" l="l"/>
            <a:pathLst>
              <a:path h="5336567" w="5415627">
                <a:moveTo>
                  <a:pt x="0" y="0"/>
                </a:moveTo>
                <a:lnTo>
                  <a:pt x="5415626" y="0"/>
                </a:lnTo>
                <a:lnTo>
                  <a:pt x="5415626" y="5336566"/>
                </a:lnTo>
                <a:lnTo>
                  <a:pt x="0" y="5336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5" id="5"/>
          <p:cNvGraphicFramePr>
            <a:graphicFrameLocks noGrp="true"/>
          </p:cNvGraphicFramePr>
          <p:nvPr/>
        </p:nvGraphicFramePr>
        <p:xfrm>
          <a:off x="2842952" y="1688564"/>
          <a:ext cx="12602096" cy="6953250"/>
        </p:xfrm>
        <a:graphic>
          <a:graphicData uri="http://schemas.openxmlformats.org/drawingml/2006/table">
            <a:tbl>
              <a:tblPr/>
              <a:tblGrid>
                <a:gridCol w="4637221"/>
                <a:gridCol w="7964875"/>
              </a:tblGrid>
              <a:tr h="1418079">
                <a:tc>
                  <a:txBody>
                    <a:bodyPr anchor="t" rtlCol="false"/>
                    <a:lstStyle/>
                    <a:p>
                      <a:pPr algn="just">
                        <a:lnSpc>
                          <a:spcPts val="3359"/>
                        </a:lnSpc>
                        <a:defRPr/>
                      </a:pPr>
                      <a:r>
                        <a:rPr lang="en-US" sz="2399">
                          <a:solidFill>
                            <a:srgbClr val="CD4146"/>
                          </a:solidFill>
                          <a:latin typeface="Oswald"/>
                          <a:ea typeface="Oswald"/>
                          <a:cs typeface="Oswald"/>
                          <a:sym typeface="Oswald"/>
                        </a:rPr>
                        <a:t>Format Tanggal</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1</a:t>
                      </a:r>
                      <a:r>
                        <a:rPr lang="en-US" sz="2399">
                          <a:solidFill>
                            <a:srgbClr val="CD4146"/>
                          </a:solidFill>
                          <a:latin typeface="Oswald"/>
                          <a:ea typeface="Oswald"/>
                          <a:cs typeface="Oswald"/>
                          <a:sym typeface="Oswald"/>
                        </a:rPr>
                        <a:t> format konsisten (YYYY-MM-DD)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36009">
                <a:tc>
                  <a:txBody>
                    <a:bodyPr anchor="t" rtlCol="false"/>
                    <a:lstStyle/>
                    <a:p>
                      <a:pPr algn="just">
                        <a:lnSpc>
                          <a:spcPts val="3359"/>
                        </a:lnSpc>
                        <a:defRPr/>
                      </a:pPr>
                      <a:r>
                        <a:rPr lang="en-US" sz="2399">
                          <a:solidFill>
                            <a:srgbClr val="CD4146"/>
                          </a:solidFill>
                          <a:latin typeface="Oswald"/>
                          <a:ea typeface="Oswald"/>
                          <a:cs typeface="Oswald"/>
                          <a:sym typeface="Oswald"/>
                        </a:rPr>
                        <a:t>Format Jam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1</a:t>
                      </a:r>
                      <a:r>
                        <a:rPr lang="en-US" sz="2399">
                          <a:solidFill>
                            <a:srgbClr val="CD4146"/>
                          </a:solidFill>
                          <a:latin typeface="Oswald"/>
                          <a:ea typeface="Oswald"/>
                          <a:cs typeface="Oswald"/>
                          <a:sym typeface="Oswald"/>
                        </a:rPr>
                        <a:t> format konsisten (HH:MM:SS)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4790">
                <a:tc>
                  <a:txBody>
                    <a:bodyPr anchor="t" rtlCol="false"/>
                    <a:lstStyle/>
                    <a:p>
                      <a:pPr algn="just">
                        <a:lnSpc>
                          <a:spcPts val="3359"/>
                        </a:lnSpc>
                        <a:defRPr/>
                      </a:pPr>
                      <a:r>
                        <a:rPr lang="en-US" sz="2399">
                          <a:solidFill>
                            <a:srgbClr val="CD4146"/>
                          </a:solidFill>
                          <a:latin typeface="Oswald"/>
                          <a:ea typeface="Oswald"/>
                          <a:cs typeface="Oswald"/>
                          <a:sym typeface="Oswald"/>
                        </a:rPr>
                        <a:t>In</a:t>
                      </a:r>
                      <a:r>
                        <a:rPr lang="en-US" sz="2399">
                          <a:solidFill>
                            <a:srgbClr val="CD4146"/>
                          </a:solidFill>
                          <a:latin typeface="Oswald"/>
                          <a:ea typeface="Oswald"/>
                          <a:cs typeface="Oswald"/>
                          <a:sym typeface="Oswald"/>
                        </a:rPr>
                        <a:t>konsistensi Case &amp; Whitespace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Format penulisan konsisten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4790">
                <a:tc>
                  <a:txBody>
                    <a:bodyPr anchor="t" rtlCol="false"/>
                    <a:lstStyle/>
                    <a:p>
                      <a:pPr algn="just">
                        <a:lnSpc>
                          <a:spcPts val="3359"/>
                        </a:lnSpc>
                        <a:defRPr/>
                      </a:pPr>
                      <a:r>
                        <a:rPr lang="en-US" sz="2399">
                          <a:solidFill>
                            <a:srgbClr val="CD4146"/>
                          </a:solidFill>
                          <a:latin typeface="Oswald"/>
                          <a:ea typeface="Oswald"/>
                          <a:cs typeface="Oswald"/>
                          <a:sym typeface="Oswald"/>
                        </a:rPr>
                        <a:t>Missing status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T</a:t>
                      </a:r>
                      <a:r>
                        <a:rPr lang="en-US" sz="2399">
                          <a:solidFill>
                            <a:srgbClr val="CD4146"/>
                          </a:solidFill>
                          <a:latin typeface="Oswald"/>
                          <a:ea typeface="Oswald"/>
                          <a:cs typeface="Oswald"/>
                          <a:sym typeface="Oswald"/>
                        </a:rPr>
                        <a:t>erisi otomatis jadi 'Waiting', 0, NULL</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4790">
                <a:tc>
                  <a:txBody>
                    <a:bodyPr anchor="t" rtlCol="false"/>
                    <a:lstStyle/>
                    <a:p>
                      <a:pPr algn="just">
                        <a:lnSpc>
                          <a:spcPts val="3359"/>
                        </a:lnSpc>
                        <a:defRPr/>
                      </a:pPr>
                      <a:r>
                        <a:rPr lang="en-US" sz="2399">
                          <a:solidFill>
                            <a:srgbClr val="CD4146"/>
                          </a:solidFill>
                          <a:latin typeface="Oswald"/>
                          <a:ea typeface="Oswald"/>
                          <a:cs typeface="Oswald"/>
                          <a:sym typeface="Oswald"/>
                        </a:rPr>
                        <a:t>Format Harga Tidak Seragam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Format Harga Seragam (Angka saja)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4790">
                <a:tc>
                  <a:txBody>
                    <a:bodyPr anchor="t" rtlCol="false"/>
                    <a:lstStyle/>
                    <a:p>
                      <a:pPr algn="just">
                        <a:lnSpc>
                          <a:spcPts val="3359"/>
                        </a:lnSpc>
                        <a:defRPr/>
                      </a:pPr>
                      <a:r>
                        <a:rPr lang="en-US" sz="2399">
                          <a:solidFill>
                            <a:srgbClr val="CD4146"/>
                          </a:solidFill>
                          <a:latin typeface="Oswald"/>
                          <a:ea typeface="Oswald"/>
                          <a:cs typeface="Oswald"/>
                          <a:sym typeface="Oswald"/>
                        </a:rPr>
                        <a:t>Duplikasi Data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just">
                        <a:lnSpc>
                          <a:spcPts val="3359"/>
                        </a:lnSpc>
                        <a:defRPr/>
                      </a:pPr>
                      <a:r>
                        <a:rPr lang="en-US" sz="2399">
                          <a:solidFill>
                            <a:srgbClr val="CD4146"/>
                          </a:solidFill>
                          <a:latin typeface="Oswald"/>
                          <a:ea typeface="Oswald"/>
                          <a:cs typeface="Oswald"/>
                          <a:sym typeface="Oswald"/>
                        </a:rPr>
                        <a:t>60 Duplikasi data terhapus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6" id="6"/>
          <p:cNvSpPr txBox="true"/>
          <p:nvPr/>
        </p:nvSpPr>
        <p:spPr>
          <a:xfrm rot="0">
            <a:off x="4295549" y="383241"/>
            <a:ext cx="9696902"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Problem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005339" y="6293632"/>
            <a:ext cx="6017177" cy="5929335"/>
          </a:xfrm>
          <a:custGeom>
            <a:avLst/>
            <a:gdLst/>
            <a:ahLst/>
            <a:cxnLst/>
            <a:rect r="r" b="b" t="t" l="l"/>
            <a:pathLst>
              <a:path h="5929335" w="6017177">
                <a:moveTo>
                  <a:pt x="0" y="0"/>
                </a:moveTo>
                <a:lnTo>
                  <a:pt x="6017177" y="0"/>
                </a:lnTo>
                <a:lnTo>
                  <a:pt x="6017177" y="5929336"/>
                </a:lnTo>
                <a:lnTo>
                  <a:pt x="0" y="5929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861792" y="-1069654"/>
            <a:ext cx="4258882" cy="4196709"/>
          </a:xfrm>
          <a:custGeom>
            <a:avLst/>
            <a:gdLst/>
            <a:ahLst/>
            <a:cxnLst/>
            <a:rect r="r" b="b" t="t" l="l"/>
            <a:pathLst>
              <a:path h="4196709" w="4258882">
                <a:moveTo>
                  <a:pt x="0" y="0"/>
                </a:moveTo>
                <a:lnTo>
                  <a:pt x="4258883" y="0"/>
                </a:lnTo>
                <a:lnTo>
                  <a:pt x="4258883" y="4196708"/>
                </a:lnTo>
                <a:lnTo>
                  <a:pt x="0" y="41967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568345" y="1182705"/>
            <a:ext cx="17151310" cy="7921590"/>
            <a:chOff x="0" y="0"/>
            <a:chExt cx="4517218" cy="2086345"/>
          </a:xfrm>
        </p:grpSpPr>
        <p:sp>
          <p:nvSpPr>
            <p:cNvPr name="Freeform 6" id="6"/>
            <p:cNvSpPr/>
            <p:nvPr/>
          </p:nvSpPr>
          <p:spPr>
            <a:xfrm flipH="false" flipV="false" rot="0">
              <a:off x="0" y="0"/>
              <a:ext cx="4517218" cy="2086345"/>
            </a:xfrm>
            <a:custGeom>
              <a:avLst/>
              <a:gdLst/>
              <a:ahLst/>
              <a:cxnLst/>
              <a:rect r="r" b="b" t="t" l="l"/>
              <a:pathLst>
                <a:path h="2086345" w="4517218">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ln w="19050" cap="rnd">
              <a:solidFill>
                <a:srgbClr val="CD4146"/>
              </a:solidFill>
              <a:prstDash val="solid"/>
              <a:round/>
            </a:ln>
          </p:spPr>
        </p:sp>
        <p:sp>
          <p:nvSpPr>
            <p:cNvPr name="TextBox 7" id="7"/>
            <p:cNvSpPr txBox="true"/>
            <p:nvPr/>
          </p:nvSpPr>
          <p:spPr>
            <a:xfrm>
              <a:off x="0" y="-57150"/>
              <a:ext cx="4517218" cy="2143495"/>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10691733" y="2753236"/>
            <a:ext cx="5698776" cy="5657330"/>
          </a:xfrm>
          <a:custGeom>
            <a:avLst/>
            <a:gdLst/>
            <a:ahLst/>
            <a:cxnLst/>
            <a:rect r="r" b="b" t="t" l="l"/>
            <a:pathLst>
              <a:path h="5657330" w="5698776">
                <a:moveTo>
                  <a:pt x="0" y="0"/>
                </a:moveTo>
                <a:lnTo>
                  <a:pt x="5698775" y="0"/>
                </a:lnTo>
                <a:lnTo>
                  <a:pt x="5698775" y="5657330"/>
                </a:lnTo>
                <a:lnTo>
                  <a:pt x="0" y="56573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9" id="9"/>
          <p:cNvSpPr txBox="true"/>
          <p:nvPr/>
        </p:nvSpPr>
        <p:spPr>
          <a:xfrm rot="0">
            <a:off x="4295549" y="1731724"/>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a:solidFill>
                  <a:srgbClr val="CD4146"/>
                </a:solidFill>
                <a:latin typeface="Oswald"/>
                <a:ea typeface="Oswald"/>
                <a:cs typeface="Oswald"/>
                <a:sym typeface="Oswald"/>
              </a:rPr>
              <a:t>Final Conclution</a:t>
            </a:r>
          </a:p>
        </p:txBody>
      </p:sp>
      <p:sp>
        <p:nvSpPr>
          <p:cNvPr name="TextBox 10" id="10"/>
          <p:cNvSpPr txBox="true"/>
          <p:nvPr/>
        </p:nvSpPr>
        <p:spPr>
          <a:xfrm rot="0">
            <a:off x="1732997" y="4251258"/>
            <a:ext cx="7411003" cy="26041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Pipeline SQL ini berhasil mengubah dataset mentah yang tidak konsisten dari 6 dimensi masalah berbeda (duplikasi, format tanggal, format jam, case, placeholder null, format harga) menjadi dataset final yang 100% konsisten dan siap dianalisis, tanpa intervensi manual. Struktur query 3 tahap CTE menunjukkan pendekatan sistematis dan reusable,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04117" y="8148954"/>
            <a:ext cx="6081308" cy="5992529"/>
          </a:xfrm>
          <a:custGeom>
            <a:avLst/>
            <a:gdLst/>
            <a:ahLst/>
            <a:cxnLst/>
            <a:rect r="r" b="b" t="t" l="l"/>
            <a:pathLst>
              <a:path h="5992529" w="6081308">
                <a:moveTo>
                  <a:pt x="0" y="0"/>
                </a:moveTo>
                <a:lnTo>
                  <a:pt x="6081308" y="0"/>
                </a:lnTo>
                <a:lnTo>
                  <a:pt x="6081308" y="5992529"/>
                </a:lnTo>
                <a:lnTo>
                  <a:pt x="0" y="59925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16218" y="0"/>
                  </a:moveTo>
                  <a:lnTo>
                    <a:pt x="4258508" y="0"/>
                  </a:lnTo>
                  <a:cubicBezTo>
                    <a:pt x="4267465" y="0"/>
                    <a:pt x="4274726" y="7261"/>
                    <a:pt x="4274726" y="16218"/>
                  </a:cubicBezTo>
                  <a:lnTo>
                    <a:pt x="4274726" y="2151249"/>
                  </a:lnTo>
                  <a:cubicBezTo>
                    <a:pt x="4274726" y="2160206"/>
                    <a:pt x="4267465" y="2167467"/>
                    <a:pt x="4258508" y="2167467"/>
                  </a:cubicBezTo>
                  <a:lnTo>
                    <a:pt x="16218" y="2167467"/>
                  </a:lnTo>
                  <a:cubicBezTo>
                    <a:pt x="7261" y="2167467"/>
                    <a:pt x="0" y="2160206"/>
                    <a:pt x="0" y="2151249"/>
                  </a:cubicBezTo>
                  <a:lnTo>
                    <a:pt x="0" y="16218"/>
                  </a:lnTo>
                  <a:cubicBezTo>
                    <a:pt x="0" y="7261"/>
                    <a:pt x="7261" y="0"/>
                    <a:pt x="16218" y="0"/>
                  </a:cubicBezTo>
                  <a:close/>
                </a:path>
              </a:pathLst>
            </a:custGeom>
            <a:ln w="19050" cap="rnd">
              <a:solidFill>
                <a:srgbClr val="CD4146"/>
              </a:solidFill>
              <a:prstDash val="solid"/>
              <a:round/>
            </a:ln>
          </p:spPr>
        </p:sp>
        <p:sp>
          <p:nvSpPr>
            <p:cNvPr name="TextBox 6" id="6"/>
            <p:cNvSpPr txBox="true"/>
            <p:nvPr/>
          </p:nvSpPr>
          <p:spPr>
            <a:xfrm>
              <a:off x="0" y="-57150"/>
              <a:ext cx="4274726" cy="2224617"/>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2196789" y="3786186"/>
            <a:ext cx="9001576" cy="2438402"/>
          </a:xfrm>
          <a:prstGeom prst="rect">
            <a:avLst/>
          </a:prstGeom>
        </p:spPr>
        <p:txBody>
          <a:bodyPr anchor="t" rtlCol="false" tIns="0" lIns="0" bIns="0" rIns="0">
            <a:spAutoFit/>
          </a:bodyPr>
          <a:lstStyle/>
          <a:p>
            <a:pPr algn="l" marL="0" indent="0" lvl="0">
              <a:lnSpc>
                <a:spcPts val="19912"/>
              </a:lnSpc>
              <a:spcBef>
                <a:spcPct val="0"/>
              </a:spcBef>
            </a:pPr>
            <a:r>
              <a:rPr lang="en-US" sz="14223" strike="noStrike" u="none">
                <a:solidFill>
                  <a:srgbClr val="CD4146"/>
                </a:solidFill>
                <a:latin typeface="Oswald"/>
                <a:ea typeface="Oswald"/>
                <a:cs typeface="Oswald"/>
                <a:sym typeface="Oswald"/>
              </a:rPr>
              <a:t>Thank You</a:t>
            </a:r>
          </a:p>
        </p:txBody>
      </p:sp>
      <p:sp>
        <p:nvSpPr>
          <p:cNvPr name="Freeform 8" id="8"/>
          <p:cNvSpPr/>
          <p:nvPr/>
        </p:nvSpPr>
        <p:spPr>
          <a:xfrm flipH="false" flipV="false" rot="0">
            <a:off x="10165512" y="3279428"/>
            <a:ext cx="5690498" cy="4573091"/>
          </a:xfrm>
          <a:custGeom>
            <a:avLst/>
            <a:gdLst/>
            <a:ahLst/>
            <a:cxnLst/>
            <a:rect r="r" b="b" t="t" l="l"/>
            <a:pathLst>
              <a:path h="4573091" w="5690498">
                <a:moveTo>
                  <a:pt x="0" y="0"/>
                </a:moveTo>
                <a:lnTo>
                  <a:pt x="5690498" y="0"/>
                </a:lnTo>
                <a:lnTo>
                  <a:pt x="5690498" y="4573091"/>
                </a:lnTo>
                <a:lnTo>
                  <a:pt x="0" y="45730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526952" y="-4360440"/>
            <a:ext cx="6081308" cy="5992529"/>
          </a:xfrm>
          <a:custGeom>
            <a:avLst/>
            <a:gdLst/>
            <a:ahLst/>
            <a:cxnLst/>
            <a:rect r="r" b="b" t="t" l="l"/>
            <a:pathLst>
              <a:path h="5992529" w="6081308">
                <a:moveTo>
                  <a:pt x="0" y="0"/>
                </a:moveTo>
                <a:lnTo>
                  <a:pt x="6081308" y="0"/>
                </a:lnTo>
                <a:lnTo>
                  <a:pt x="6081308" y="5992530"/>
                </a:lnTo>
                <a:lnTo>
                  <a:pt x="0" y="59925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DAHUNA-Kpyo</dc:identifier>
  <dcterms:modified xsi:type="dcterms:W3CDTF">2011-08-01T06:04:30Z</dcterms:modified>
  <cp:revision>1</cp:revision>
  <dc:title>White and Red Illustrative Data Analysis Presentation</dc:title>
</cp:coreProperties>
</file>